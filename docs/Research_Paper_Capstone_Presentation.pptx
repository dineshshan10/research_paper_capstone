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1625600" y="374650"/>
            <a:ext cx="9753600" cy="6502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idx="21"/>
          </p:nvPr>
        </p:nvSpPr>
        <p:spPr>
          <a:xfrm>
            <a:off x="6375400" y="635000"/>
            <a:ext cx="82169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idx="21"/>
          </p:nvPr>
        </p:nvSpPr>
        <p:spPr>
          <a:xfrm>
            <a:off x="3810000" y="25908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/>
          <p:nvPr>
            <p:ph type="pic" sz="quarter" idx="21"/>
          </p:nvPr>
        </p:nvSpPr>
        <p:spPr>
          <a:xfrm>
            <a:off x="6556375" y="5092700"/>
            <a:ext cx="565785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Heron flying low over a beach with a short fence in the foreground"/>
          <p:cNvSpPr/>
          <p:nvPr>
            <p:ph type="pic" sz="half" idx="22"/>
          </p:nvPr>
        </p:nvSpPr>
        <p:spPr>
          <a:xfrm>
            <a:off x="6718300" y="749300"/>
            <a:ext cx="5334000" cy="533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View of beach and sea from a grassy sand dune"/>
          <p:cNvSpPr/>
          <p:nvPr>
            <p:ph type="pic" idx="23"/>
          </p:nvPr>
        </p:nvSpPr>
        <p:spPr>
          <a:xfrm>
            <a:off x="-2832100" y="889000"/>
            <a:ext cx="119634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/>
          <p:nvPr>
            <p:ph type="pic" idx="21"/>
          </p:nvPr>
        </p:nvSpPr>
        <p:spPr>
          <a:xfrm>
            <a:off x="-1308100" y="-50800"/>
            <a:ext cx="14782800" cy="9855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search Paper Answer Bo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Research Paper Answer Bot</a:t>
            </a:r>
          </a:p>
        </p:txBody>
      </p:sp>
      <p:sp>
        <p:nvSpPr>
          <p:cNvPr id="138" name="Ask  →  Search  →  Verify  →  Cite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268731">
              <a:defRPr sz="1702"/>
            </a:pPr>
            <a:r>
              <a:t>Ask  →  Search  →  Verify  →  Cite</a:t>
            </a:r>
          </a:p>
          <a:p>
            <a:pPr defTabSz="268731">
              <a:defRPr sz="1702"/>
            </a:pPr>
          </a:p>
          <a:p>
            <a:pPr defTabSz="268731">
              <a:defRPr sz="1702"/>
            </a:pPr>
            <a:r>
              <a:t>Evidence-first answers across landmark Generative AI papers</a:t>
            </a:r>
          </a:p>
          <a:p>
            <a:pPr defTabSz="268731">
              <a:defRPr sz="1702"/>
            </a:pPr>
            <a:r>
              <a:t>Analytics Vidhya · GenAI Pinnacle Capstone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Why this projec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this project?</a:t>
            </a:r>
          </a:p>
        </p:txBody>
      </p:sp>
      <p:sp>
        <p:nvSpPr>
          <p:cNvPr id="141" name="Research papers are difficult to search, compare, and trust at speed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Research papers are difficult to search, compare, and trust at speed.</a:t>
            </a:r>
          </a:p>
          <a:p>
            <a:pPr/>
          </a:p>
          <a:p>
            <a:pPr/>
            <a:r>
              <a:t>The goal: answer questions from primary sources — with the exact paper and page visible.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cope at a glan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Scope at a glance</a:t>
            </a:r>
          </a:p>
        </p:txBody>
      </p:sp>
      <p:sp>
        <p:nvSpPr>
          <p:cNvPr id="144" name="5 landmark paper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5 landmark papers</a:t>
            </a:r>
          </a:p>
          <a:p>
            <a:pPr/>
            <a:r>
              <a:t>4 embedding candidates</a:t>
            </a:r>
          </a:p>
          <a:p>
            <a:pPr/>
            <a:r>
              <a:t>5 retrieval strategies</a:t>
            </a:r>
          </a:p>
          <a:p>
            <a:pPr/>
            <a:r>
              <a:t>3 ways to use the product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High-level overvie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High-level overview</a:t>
            </a:r>
          </a:p>
        </p:txBody>
      </p:sp>
      <p:sp>
        <p:nvSpPr>
          <p:cNvPr id="147" name="RESEARCHER QUES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17830" indent="-417830" defTabSz="549148">
              <a:spcBef>
                <a:spcPts val="3900"/>
              </a:spcBef>
              <a:defRPr sz="3008"/>
            </a:pPr>
            <a:r>
              <a:t>RESEARCHER QUESTION</a:t>
            </a:r>
          </a:p>
          <a:p>
            <a:pPr marL="417830" indent="-417830" defTabSz="549148">
              <a:spcBef>
                <a:spcPts val="3900"/>
              </a:spcBef>
              <a:defRPr sz="3008"/>
            </a:pPr>
            <a:r>
              <a:t>↓</a:t>
            </a:r>
          </a:p>
          <a:p>
            <a:pPr marL="417830" indent="-417830" defTabSz="549148">
              <a:spcBef>
                <a:spcPts val="3900"/>
              </a:spcBef>
              <a:defRPr sz="3008"/>
            </a:pPr>
            <a:r>
              <a:t>SEARCH THE FIVE-PAPER CORPUS</a:t>
            </a:r>
          </a:p>
          <a:p>
            <a:pPr marL="417830" indent="-417830" defTabSz="549148">
              <a:spcBef>
                <a:spcPts val="3900"/>
              </a:spcBef>
              <a:defRPr sz="3008"/>
            </a:pPr>
            <a:r>
              <a:t>↓</a:t>
            </a:r>
          </a:p>
          <a:p>
            <a:pPr marL="417830" indent="-417830" defTabSz="549148">
              <a:spcBef>
                <a:spcPts val="3900"/>
              </a:spcBef>
              <a:defRPr sz="3008"/>
            </a:pPr>
            <a:r>
              <a:t>RELEVANT EVIDENCE?</a:t>
            </a:r>
          </a:p>
          <a:p>
            <a:pPr marL="417830" indent="-417830" defTabSz="549148">
              <a:spcBef>
                <a:spcPts val="3900"/>
              </a:spcBef>
              <a:defRPr sz="3008"/>
            </a:pPr>
            <a:r>
              <a:t>↓</a:t>
            </a:r>
          </a:p>
          <a:p>
            <a:pPr marL="417830" indent="-417830" defTabSz="549148">
              <a:spcBef>
                <a:spcPts val="3900"/>
              </a:spcBef>
              <a:defRPr sz="3008"/>
            </a:pPr>
            <a:r>
              <a:t>CITED ANSWER  →  FOLLOW-UP QUESTION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chnical desig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Technical design</a:t>
            </a:r>
          </a:p>
        </p:txBody>
      </p:sp>
      <p:sp>
        <p:nvSpPr>
          <p:cNvPr id="150" name="PDF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15594" indent="-315594" defTabSz="414781">
              <a:spcBef>
                <a:spcPts val="2900"/>
              </a:spcBef>
              <a:defRPr sz="2272"/>
            </a:pPr>
            <a:r>
              <a:t>PDFs</a:t>
            </a:r>
          </a:p>
          <a:p>
            <a:pPr marL="315594" indent="-315594" defTabSz="414781">
              <a:spcBef>
                <a:spcPts val="2900"/>
              </a:spcBef>
              <a:defRPr sz="2272"/>
            </a:pPr>
            <a:r>
              <a:t>↓</a:t>
            </a:r>
          </a:p>
          <a:p>
            <a:pPr marL="315594" indent="-315594" defTabSz="414781">
              <a:spcBef>
                <a:spcPts val="2900"/>
              </a:spcBef>
              <a:defRPr sz="2272"/>
            </a:pPr>
            <a:r>
              <a:t>Page-aware chunks</a:t>
            </a:r>
          </a:p>
          <a:p>
            <a:pPr marL="315594" indent="-315594" defTabSz="414781">
              <a:spcBef>
                <a:spcPts val="2900"/>
              </a:spcBef>
              <a:defRPr sz="2272"/>
            </a:pPr>
            <a:r>
              <a:t>↓</a:t>
            </a:r>
          </a:p>
          <a:p>
            <a:pPr marL="315594" indent="-315594" defTabSz="414781">
              <a:spcBef>
                <a:spcPts val="2900"/>
              </a:spcBef>
              <a:defRPr sz="2272"/>
            </a:pPr>
            <a:r>
              <a:t>Embeddings + BM25</a:t>
            </a:r>
          </a:p>
          <a:p>
            <a:pPr marL="315594" indent="-315594" defTabSz="414781">
              <a:spcBef>
                <a:spcPts val="2900"/>
              </a:spcBef>
              <a:defRPr sz="2272"/>
            </a:pPr>
            <a:r>
              <a:t>↓</a:t>
            </a:r>
          </a:p>
          <a:p>
            <a:pPr marL="315594" indent="-315594" defTabSz="414781">
              <a:spcBef>
                <a:spcPts val="2900"/>
              </a:spcBef>
              <a:defRPr sz="2272"/>
            </a:pPr>
            <a:r>
              <a:t>Retrieve + relevance check</a:t>
            </a:r>
          </a:p>
          <a:p>
            <a:pPr marL="315594" indent="-315594" defTabSz="414781">
              <a:spcBef>
                <a:spcPts val="2900"/>
              </a:spcBef>
              <a:defRPr sz="2272"/>
            </a:pPr>
            <a:r>
              <a:t>↓</a:t>
            </a:r>
          </a:p>
          <a:p>
            <a:pPr marL="315594" indent="-315594" defTabSz="414781">
              <a:spcBef>
                <a:spcPts val="2900"/>
              </a:spcBef>
              <a:defRPr sz="2272"/>
            </a:pPr>
            <a:r>
              <a:t>Grounded answer + source cards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When the corpus is not enoug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6640"/>
            </a:lvl1pPr>
          </a:lstStyle>
          <a:p>
            <a:pPr/>
            <a:r>
              <a:t>When the corpus is not enough</a:t>
            </a:r>
          </a:p>
        </p:txBody>
      </p:sp>
      <p:sp>
        <p:nvSpPr>
          <p:cNvPr id="153" name="In-corpus ques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In-corpus question</a:t>
            </a:r>
          </a:p>
          <a:p>
            <a:pPr/>
            <a:r>
              <a:t>→ grounded answer with citations</a:t>
            </a:r>
          </a:p>
          <a:p>
            <a:pPr/>
          </a:p>
          <a:p>
            <a:pPr/>
            <a:r>
              <a:t>Out-of-corpus question</a:t>
            </a:r>
          </a:p>
          <a:p>
            <a:pPr/>
            <a:r>
              <a:t>→ Tavily web search when configured</a:t>
            </a:r>
          </a:p>
          <a:p>
            <a:pPr/>
            <a:r>
              <a:t>→ transparent refusal when offline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Evalu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Evaluation</a:t>
            </a:r>
          </a:p>
        </p:txBody>
      </p:sp>
      <p:sp>
        <p:nvSpPr>
          <p:cNvPr id="156" name="Compare embedding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13384" indent="-413384" defTabSz="543305">
              <a:spcBef>
                <a:spcPts val="3900"/>
              </a:spcBef>
              <a:defRPr sz="2976"/>
            </a:pPr>
            <a:r>
              <a:t>Compare embeddings</a:t>
            </a:r>
          </a:p>
          <a:p>
            <a:pPr marL="413384" indent="-413384" defTabSz="543305">
              <a:spcBef>
                <a:spcPts val="3900"/>
              </a:spcBef>
              <a:defRPr sz="2976"/>
            </a:pPr>
            <a:r>
              <a:t>MiniLM · BGE-base · GTE-large · OpenAI</a:t>
            </a:r>
          </a:p>
          <a:p>
            <a:pPr marL="413384" indent="-413384" defTabSz="543305">
              <a:spcBef>
                <a:spcPts val="3900"/>
              </a:spcBef>
              <a:defRPr sz="2976"/>
            </a:pPr>
          </a:p>
          <a:p>
            <a:pPr marL="413384" indent="-413384" defTabSz="543305">
              <a:spcBef>
                <a:spcPts val="3900"/>
              </a:spcBef>
              <a:defRPr sz="2976"/>
            </a:pPr>
            <a:r>
              <a:t>Compare retrieval</a:t>
            </a:r>
          </a:p>
          <a:p>
            <a:pPr marL="413384" indent="-413384" defTabSz="543305">
              <a:spcBef>
                <a:spcPts val="3900"/>
              </a:spcBef>
              <a:defRPr sz="2976"/>
            </a:pPr>
            <a:r>
              <a:t>Dense · BM25 · Hybrid · Rerank · MMR</a:t>
            </a:r>
          </a:p>
          <a:p>
            <a:pPr marL="413384" indent="-413384" defTabSz="543305">
              <a:spcBef>
                <a:spcPts val="3900"/>
              </a:spcBef>
              <a:defRPr sz="2976"/>
            </a:pPr>
          </a:p>
          <a:p>
            <a:pPr marL="413384" indent="-413384" defTabSz="543305">
              <a:spcBef>
                <a:spcPts val="3900"/>
              </a:spcBef>
              <a:defRPr sz="2976"/>
            </a:pPr>
            <a:r>
              <a:t>Score with Hit@5 · MRR · nDCG · latency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roduct experien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Product experience</a:t>
            </a:r>
          </a:p>
        </p:txBody>
      </p:sp>
      <p:sp>
        <p:nvSpPr>
          <p:cNvPr id="159" name="Streamlit workspac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55600" indent="-355600" defTabSz="467359">
              <a:spcBef>
                <a:spcPts val="3300"/>
              </a:spcBef>
              <a:defRPr sz="2560"/>
            </a:pPr>
            <a:r>
              <a:t>Streamlit workspace</a:t>
            </a:r>
          </a:p>
          <a:p>
            <a:pPr marL="355600" indent="-355600" defTabSz="467359">
              <a:spcBef>
                <a:spcPts val="3300"/>
              </a:spcBef>
              <a:defRPr sz="2560"/>
            </a:pPr>
            <a:r>
              <a:t>Research chat · Corpus browser · Evaluation tab</a:t>
            </a:r>
          </a:p>
          <a:p>
            <a:pPr marL="355600" indent="-355600" defTabSz="467359">
              <a:spcBef>
                <a:spcPts val="3300"/>
              </a:spcBef>
              <a:defRPr sz="2560"/>
            </a:pPr>
          </a:p>
          <a:p>
            <a:pPr marL="355600" indent="-355600" defTabSz="467359">
              <a:spcBef>
                <a:spcPts val="3300"/>
              </a:spcBef>
              <a:defRPr sz="2560"/>
            </a:pPr>
            <a:r>
              <a:t>FastAPI</a:t>
            </a:r>
          </a:p>
          <a:p>
            <a:pPr marL="355600" indent="-355600" defTabSz="467359">
              <a:spcBef>
                <a:spcPts val="3300"/>
              </a:spcBef>
              <a:defRPr sz="2560"/>
            </a:pPr>
            <a:r>
              <a:t>Cited answers for applications</a:t>
            </a:r>
          </a:p>
          <a:p>
            <a:pPr marL="355600" indent="-355600" defTabSz="467359">
              <a:spcBef>
                <a:spcPts val="3300"/>
              </a:spcBef>
              <a:defRPr sz="2560"/>
            </a:pPr>
          </a:p>
          <a:p>
            <a:pPr marL="355600" indent="-355600" defTabSz="467359">
              <a:spcBef>
                <a:spcPts val="3300"/>
              </a:spcBef>
              <a:defRPr sz="2560"/>
            </a:pPr>
            <a:r>
              <a:t>CLI</a:t>
            </a:r>
          </a:p>
          <a:p>
            <a:pPr marL="355600" indent="-355600" defTabSz="467359">
              <a:spcBef>
                <a:spcPts val="3300"/>
              </a:spcBef>
              <a:defRPr sz="2560"/>
            </a:pPr>
            <a:r>
              <a:t>Quick terminal research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What I learn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 learned</a:t>
            </a:r>
          </a:p>
        </p:txBody>
      </p:sp>
      <p:sp>
        <p:nvSpPr>
          <p:cNvPr id="162" name="Retrieval quality is measurable — not guesswork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13384" indent="-413384" defTabSz="543305">
              <a:spcBef>
                <a:spcPts val="3900"/>
              </a:spcBef>
              <a:defRPr sz="2976"/>
            </a:pPr>
            <a:r>
              <a:t>Retrieval quality is measurable — not guesswork.</a:t>
            </a:r>
          </a:p>
          <a:p>
            <a:pPr marL="413384" indent="-413384" defTabSz="543305">
              <a:spcBef>
                <a:spcPts val="3900"/>
              </a:spcBef>
              <a:defRPr sz="2976"/>
            </a:pPr>
          </a:p>
          <a:p>
            <a:pPr marL="413384" indent="-413384" defTabSz="543305">
              <a:spcBef>
                <a:spcPts val="3900"/>
              </a:spcBef>
              <a:defRPr sz="2976"/>
            </a:pPr>
            <a:r>
              <a:t>Citations make RAG answers auditable.</a:t>
            </a:r>
          </a:p>
          <a:p>
            <a:pPr marL="413384" indent="-413384" defTabSz="543305">
              <a:spcBef>
                <a:spcPts val="3900"/>
              </a:spcBef>
              <a:defRPr sz="2976"/>
            </a:pPr>
          </a:p>
          <a:p>
            <a:pPr marL="413384" indent="-413384" defTabSz="543305">
              <a:spcBef>
                <a:spcPts val="3900"/>
              </a:spcBef>
              <a:defRPr sz="2976"/>
            </a:pPr>
            <a:r>
              <a:t>A clear fallback is safer than a confident hallucination.</a:t>
            </a:r>
          </a:p>
          <a:p>
            <a:pPr marL="413384" indent="-413384" defTabSz="543305">
              <a:spcBef>
                <a:spcPts val="3900"/>
              </a:spcBef>
              <a:defRPr sz="2976"/>
            </a:pPr>
          </a:p>
          <a:p>
            <a:pPr marL="413384" indent="-413384" defTabSz="543305">
              <a:spcBef>
                <a:spcPts val="3900"/>
              </a:spcBef>
              <a:defRPr sz="2976"/>
            </a:pPr>
            <a:r>
              <a:t>Conversation memory needs explicit thread isolation.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Next step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Next steps</a:t>
            </a:r>
          </a:p>
        </p:txBody>
      </p:sp>
      <p:sp>
        <p:nvSpPr>
          <p:cNvPr id="165" name="Warm neural models and run the full bake-off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Warm neural models and run the full bake-off</a:t>
            </a:r>
          </a:p>
          <a:p>
            <a:pPr/>
            <a:r>
              <a:t>Lock the winning production configuration</a:t>
            </a:r>
          </a:p>
          <a:p>
            <a:pPr/>
            <a:r>
              <a:t>Add figure and table extraction</a:t>
            </a:r>
          </a:p>
          <a:p>
            <a:pPr/>
            <a:r>
              <a:t>Deploy with managed secrets and authentication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
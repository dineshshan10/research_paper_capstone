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b="0" baseline="0" cap="none" i="0" spc="0" strike="noStrike" sz="32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1pPr>
    <a:lvl2pPr marL="0" marR="0" indent="4572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b="0" baseline="0" cap="none" i="0" spc="0" strike="noStrike" sz="32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2pPr>
    <a:lvl3pPr marL="0" marR="0" indent="9144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b="0" baseline="0" cap="none" i="0" spc="0" strike="noStrike" sz="32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3pPr>
    <a:lvl4pPr marL="0" marR="0" indent="13716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b="0" baseline="0" cap="none" i="0" spc="0" strike="noStrike" sz="32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4pPr>
    <a:lvl5pPr marL="0" marR="0" indent="18288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b="0" baseline="0" cap="none" i="0" spc="0" strike="noStrike" sz="32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5pPr>
    <a:lvl6pPr marL="0" marR="0" indent="22860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b="0" baseline="0" cap="none" i="0" spc="0" strike="noStrike" sz="32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6pPr>
    <a:lvl7pPr marL="0" marR="0" indent="27432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b="0" baseline="0" cap="none" i="0" spc="0" strike="noStrike" sz="32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7pPr>
    <a:lvl8pPr marL="0" marR="0" indent="32004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b="0" baseline="0" cap="none" i="0" spc="0" strike="noStrike" sz="32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8pPr>
    <a:lvl9pPr marL="0" marR="0" indent="36576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b="0" baseline="0" cap="none" i="0" spc="0" strike="noStrike" sz="32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>
              <a:lumOff val="-13575"/>
            </a:schemeClr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>
              <a:hueOff val="114395"/>
              <a:lumOff val="-24975"/>
            </a:schemeClr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 b="def" i="def"/>
      <a:tcStyle>
        <a:tcBdr/>
        <a:fill>
          <a:solidFill>
            <a:srgbClr val="E1E0DA"/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3">
              <a:hueOff val="362282"/>
              <a:satOff val="31803"/>
              <a:lumOff val="-18242"/>
            </a:schemeClr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929292"/>
              </a:solidFill>
              <a:prstDash val="solid"/>
              <a:miter lim="400000"/>
            </a:ln>
          </a:left>
          <a:right>
            <a:ln w="12700" cap="flat">
              <a:solidFill>
                <a:srgbClr val="929292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929292"/>
              </a:solidFill>
              <a:prstDash val="solid"/>
              <a:miter lim="400000"/>
            </a:ln>
          </a:insideH>
          <a:insideV>
            <a:ln w="127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solidFill>
            <a:srgbClr val="017101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Neue Light"/>
          <a:ea typeface="Helvetica Neue Light"/>
          <a:cs typeface="Helvetica Neue Light"/>
        </a:font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rgbClr val="EDEADD"/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9BA00"/>
          </a:solidFill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 b="def" i="def"/>
      <a:tcStyle>
        <a:tcBdr/>
        <a:fill>
          <a:solidFill>
            <a:srgbClr val="DADBDA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chemeClr val="accent6">
              <a:hueOff val="-146070"/>
              <a:satOff val="-10048"/>
              <a:lumOff val="-30626"/>
            </a:schemeClr>
          </a:solidFill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C24785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C24785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B5B5C1"/>
          </a:solidFill>
        </a:fill>
      </a:tcStyle>
    </a:wholeTbl>
    <a:band2H>
      <a:tcTxStyle b="def" i="def"/>
      <a:tcStyle>
        <a:tcBdr/>
        <a:fill>
          <a:solidFill>
            <a:srgbClr val="9A9AA5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85F"/>
          </a:solidFill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98089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98089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5" name="Shape 135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1270000" y="1638300"/>
            <a:ext cx="10464800" cy="3302000"/>
          </a:xfrm>
          <a:prstGeom prst="rect">
            <a:avLst/>
          </a:prstGeom>
        </p:spPr>
        <p:txBody>
          <a:bodyPr anchor="b"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270000" y="5041900"/>
            <a:ext cx="10464800" cy="11303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3700"/>
            </a:lvl1pPr>
            <a:lvl2pPr marL="0" indent="0" algn="ctr">
              <a:spcBef>
                <a:spcPts val="0"/>
              </a:spcBef>
              <a:buSzTx/>
              <a:buNone/>
              <a:defRPr sz="3700"/>
            </a:lvl2pPr>
            <a:lvl3pPr marL="0" indent="0" algn="ctr">
              <a:spcBef>
                <a:spcPts val="0"/>
              </a:spcBef>
              <a:buSzTx/>
              <a:buNone/>
              <a:defRPr sz="3700"/>
            </a:lvl3pPr>
            <a:lvl4pPr marL="0" indent="0" algn="ctr">
              <a:spcBef>
                <a:spcPts val="0"/>
              </a:spcBef>
              <a:buSzTx/>
              <a:buNone/>
              <a:defRPr sz="3700"/>
            </a:lvl4pPr>
            <a:lvl5pPr marL="0" indent="0" algn="ctr">
              <a:spcBef>
                <a:spcPts val="0"/>
              </a:spcBef>
              <a:buSzTx/>
              <a:buNone/>
              <a:defRPr sz="37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View of beach and sea from a grassy sand dune"/>
          <p:cNvSpPr/>
          <p:nvPr>
            <p:ph type="pic" idx="21"/>
          </p:nvPr>
        </p:nvSpPr>
        <p:spPr>
          <a:xfrm>
            <a:off x="1625600" y="374650"/>
            <a:ext cx="9753600" cy="65024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21" name="Title Text"/>
          <p:cNvSpPr txBox="1"/>
          <p:nvPr>
            <p:ph type="title"/>
          </p:nvPr>
        </p:nvSpPr>
        <p:spPr>
          <a:xfrm>
            <a:off x="1270000" y="6718300"/>
            <a:ext cx="10464800" cy="1422400"/>
          </a:xfrm>
          <a:prstGeom prst="rect">
            <a:avLst/>
          </a:prstGeom>
        </p:spPr>
        <p:txBody>
          <a:bodyPr anchor="b"/>
          <a:lstStyle/>
          <a:p>
            <a:pPr/>
            <a:r>
              <a:t>Title Text</a:t>
            </a:r>
          </a:p>
        </p:txBody>
      </p:sp>
      <p:sp>
        <p:nvSpPr>
          <p:cNvPr id="22" name="Body Level One…"/>
          <p:cNvSpPr txBox="1"/>
          <p:nvPr>
            <p:ph type="body" sz="quarter" idx="1"/>
          </p:nvPr>
        </p:nvSpPr>
        <p:spPr>
          <a:xfrm>
            <a:off x="1270000" y="8153400"/>
            <a:ext cx="10464800" cy="11303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3700"/>
            </a:lvl1pPr>
            <a:lvl2pPr marL="0" indent="0" algn="ctr">
              <a:spcBef>
                <a:spcPts val="0"/>
              </a:spcBef>
              <a:buSzTx/>
              <a:buNone/>
              <a:defRPr sz="3700"/>
            </a:lvl2pPr>
            <a:lvl3pPr marL="0" indent="0" algn="ctr">
              <a:spcBef>
                <a:spcPts val="0"/>
              </a:spcBef>
              <a:buSzTx/>
              <a:buNone/>
              <a:defRPr sz="3700"/>
            </a:lvl3pPr>
            <a:lvl4pPr marL="0" indent="0" algn="ctr">
              <a:spcBef>
                <a:spcPts val="0"/>
              </a:spcBef>
              <a:buSzTx/>
              <a:buNone/>
              <a:defRPr sz="3700"/>
            </a:lvl4pPr>
            <a:lvl5pPr marL="0" indent="0" algn="ctr">
              <a:spcBef>
                <a:spcPts val="0"/>
              </a:spcBef>
              <a:buSzTx/>
              <a:buNone/>
              <a:defRPr sz="37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/>
          <p:nvPr>
            <p:ph type="title"/>
          </p:nvPr>
        </p:nvSpPr>
        <p:spPr>
          <a:xfrm>
            <a:off x="1270000" y="3225800"/>
            <a:ext cx="10464800" cy="3302000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Heron flying low over a beach with a short fence in the foreground"/>
          <p:cNvSpPr/>
          <p:nvPr>
            <p:ph type="pic" idx="21"/>
          </p:nvPr>
        </p:nvSpPr>
        <p:spPr>
          <a:xfrm>
            <a:off x="6375400" y="635000"/>
            <a:ext cx="8216900" cy="8216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39" name="Title Text"/>
          <p:cNvSpPr txBox="1"/>
          <p:nvPr>
            <p:ph type="title"/>
          </p:nvPr>
        </p:nvSpPr>
        <p:spPr>
          <a:xfrm>
            <a:off x="952500" y="635000"/>
            <a:ext cx="5334000" cy="39878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40" name="Body Level One…"/>
          <p:cNvSpPr txBox="1"/>
          <p:nvPr>
            <p:ph type="body" sz="quarter" idx="1"/>
          </p:nvPr>
        </p:nvSpPr>
        <p:spPr>
          <a:xfrm>
            <a:off x="952500" y="4724400"/>
            <a:ext cx="5334000" cy="41148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3700"/>
            </a:lvl1pPr>
            <a:lvl2pPr marL="0" indent="0" algn="ctr">
              <a:spcBef>
                <a:spcPts val="0"/>
              </a:spcBef>
              <a:buSzTx/>
              <a:buNone/>
              <a:defRPr sz="3700"/>
            </a:lvl2pPr>
            <a:lvl3pPr marL="0" indent="0" algn="ctr">
              <a:spcBef>
                <a:spcPts val="0"/>
              </a:spcBef>
              <a:buSzTx/>
              <a:buNone/>
              <a:defRPr sz="3700"/>
            </a:lvl3pPr>
            <a:lvl4pPr marL="0" indent="0" algn="ctr">
              <a:spcBef>
                <a:spcPts val="0"/>
              </a:spcBef>
              <a:buSzTx/>
              <a:buNone/>
              <a:defRPr sz="3700"/>
            </a:lvl4pPr>
            <a:lvl5pPr marL="0" indent="0" algn="ctr">
              <a:spcBef>
                <a:spcPts val="0"/>
              </a:spcBef>
              <a:buSzTx/>
              <a:buNone/>
              <a:defRPr sz="37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7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andy path between two hills leading to the ocean"/>
          <p:cNvSpPr/>
          <p:nvPr>
            <p:ph type="pic" idx="21"/>
          </p:nvPr>
        </p:nvSpPr>
        <p:spPr>
          <a:xfrm>
            <a:off x="3810000" y="2590800"/>
            <a:ext cx="9429750" cy="62865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66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67" name="Body Level One…"/>
          <p:cNvSpPr txBox="1"/>
          <p:nvPr>
            <p:ph type="body" sz="half" idx="1"/>
          </p:nvPr>
        </p:nvSpPr>
        <p:spPr>
          <a:xfrm>
            <a:off x="952500" y="2590800"/>
            <a:ext cx="5334000" cy="6286500"/>
          </a:xfrm>
          <a:prstGeom prst="rect">
            <a:avLst/>
          </a:prstGeom>
        </p:spPr>
        <p:txBody>
          <a:bodyPr/>
          <a:lstStyle>
            <a:lvl1pPr marL="342900" indent="-342900">
              <a:spcBef>
                <a:spcPts val="3200"/>
              </a:spcBef>
              <a:defRPr sz="2800"/>
            </a:lvl1pPr>
            <a:lvl2pPr marL="685800" indent="-342900">
              <a:spcBef>
                <a:spcPts val="3200"/>
              </a:spcBef>
              <a:defRPr sz="2800"/>
            </a:lvl2pPr>
            <a:lvl3pPr marL="1028700" indent="-342900">
              <a:spcBef>
                <a:spcPts val="3200"/>
              </a:spcBef>
              <a:defRPr sz="2800"/>
            </a:lvl3pPr>
            <a:lvl4pPr marL="1371600" indent="-342900">
              <a:spcBef>
                <a:spcPts val="3200"/>
              </a:spcBef>
              <a:defRPr sz="2800"/>
            </a:lvl4pPr>
            <a:lvl5pPr marL="1714500" indent="-342900">
              <a:spcBef>
                <a:spcPts val="32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/>
          <p:nvPr>
            <p:ph type="sldNum" sz="quarter" idx="2"/>
          </p:nvPr>
        </p:nvSpPr>
        <p:spPr>
          <a:xfrm>
            <a:off x="6328884" y="9296400"/>
            <a:ext cx="340259" cy="342900"/>
          </a:xfrm>
          <a:prstGeom prst="rect">
            <a:avLst/>
          </a:prstGeom>
        </p:spPr>
        <p:txBody>
          <a:bodyPr/>
          <a:lstStyle>
            <a:lvl1pPr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Live Video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76" name="Body Level One…"/>
          <p:cNvSpPr txBox="1"/>
          <p:nvPr>
            <p:ph type="body" sz="half" idx="1"/>
          </p:nvPr>
        </p:nvSpPr>
        <p:spPr>
          <a:xfrm>
            <a:off x="952500" y="2590800"/>
            <a:ext cx="5334000" cy="6286500"/>
          </a:xfrm>
          <a:prstGeom prst="rect">
            <a:avLst/>
          </a:prstGeom>
        </p:spPr>
        <p:txBody>
          <a:bodyPr/>
          <a:lstStyle>
            <a:lvl1pPr marL="342900" indent="-342900">
              <a:spcBef>
                <a:spcPts val="3200"/>
              </a:spcBef>
              <a:defRPr sz="2800"/>
            </a:lvl1pPr>
            <a:lvl2pPr marL="685800" indent="-342900">
              <a:spcBef>
                <a:spcPts val="3200"/>
              </a:spcBef>
              <a:defRPr sz="2800"/>
            </a:lvl2pPr>
            <a:lvl3pPr marL="1028700" indent="-342900">
              <a:spcBef>
                <a:spcPts val="3200"/>
              </a:spcBef>
              <a:defRPr sz="2800"/>
            </a:lvl3pPr>
            <a:lvl4pPr marL="1371600" indent="-342900">
              <a:spcBef>
                <a:spcPts val="3200"/>
              </a:spcBef>
              <a:defRPr sz="2800"/>
            </a:lvl4pPr>
            <a:lvl5pPr marL="1714500" indent="-342900">
              <a:spcBef>
                <a:spcPts val="32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7" name="Slide Number"/>
          <p:cNvSpPr txBox="1"/>
          <p:nvPr>
            <p:ph type="sldNum" sz="quarter" idx="2"/>
          </p:nvPr>
        </p:nvSpPr>
        <p:spPr>
          <a:xfrm>
            <a:off x="6328884" y="9296400"/>
            <a:ext cx="340259" cy="342900"/>
          </a:xfrm>
          <a:prstGeom prst="rect">
            <a:avLst/>
          </a:prstGeom>
        </p:spPr>
        <p:txBody>
          <a:bodyPr/>
          <a:lstStyle>
            <a:lvl1pPr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Live Video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85" name="Body Level One…"/>
          <p:cNvSpPr txBox="1"/>
          <p:nvPr>
            <p:ph type="body" sz="half" idx="1"/>
          </p:nvPr>
        </p:nvSpPr>
        <p:spPr>
          <a:xfrm>
            <a:off x="952500" y="2590800"/>
            <a:ext cx="5334000" cy="6286500"/>
          </a:xfrm>
          <a:prstGeom prst="rect">
            <a:avLst/>
          </a:prstGeom>
        </p:spPr>
        <p:txBody>
          <a:bodyPr/>
          <a:lstStyle>
            <a:lvl1pPr marL="342900" indent="-342900">
              <a:spcBef>
                <a:spcPts val="3200"/>
              </a:spcBef>
              <a:defRPr sz="2800"/>
            </a:lvl1pPr>
            <a:lvl2pPr marL="685800" indent="-342900">
              <a:spcBef>
                <a:spcPts val="3200"/>
              </a:spcBef>
              <a:defRPr sz="2800"/>
            </a:lvl2pPr>
            <a:lvl3pPr marL="1028700" indent="-342900">
              <a:spcBef>
                <a:spcPts val="3200"/>
              </a:spcBef>
              <a:defRPr sz="2800"/>
            </a:lvl3pPr>
            <a:lvl4pPr marL="1371600" indent="-342900">
              <a:spcBef>
                <a:spcPts val="3200"/>
              </a:spcBef>
              <a:defRPr sz="2800"/>
            </a:lvl4pPr>
            <a:lvl5pPr marL="1714500" indent="-342900">
              <a:spcBef>
                <a:spcPts val="32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6" name="Slide Number"/>
          <p:cNvSpPr txBox="1"/>
          <p:nvPr>
            <p:ph type="sldNum" sz="quarter" idx="2"/>
          </p:nvPr>
        </p:nvSpPr>
        <p:spPr>
          <a:xfrm>
            <a:off x="6328884" y="9296400"/>
            <a:ext cx="340259" cy="342900"/>
          </a:xfrm>
          <a:prstGeom prst="rect">
            <a:avLst/>
          </a:prstGeom>
        </p:spPr>
        <p:txBody>
          <a:bodyPr/>
          <a:lstStyle>
            <a:lvl1pPr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Body Level One…"/>
          <p:cNvSpPr txBox="1"/>
          <p:nvPr>
            <p:ph type="body" idx="1"/>
          </p:nvPr>
        </p:nvSpPr>
        <p:spPr>
          <a:xfrm>
            <a:off x="952500" y="1270000"/>
            <a:ext cx="11099800" cy="7213600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andy path between two hills leading to the ocean"/>
          <p:cNvSpPr/>
          <p:nvPr>
            <p:ph type="pic" sz="quarter" idx="21"/>
          </p:nvPr>
        </p:nvSpPr>
        <p:spPr>
          <a:xfrm>
            <a:off x="6556375" y="5092700"/>
            <a:ext cx="5657850" cy="3771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102" name="Heron flying low over a beach with a short fence in the foreground"/>
          <p:cNvSpPr/>
          <p:nvPr>
            <p:ph type="pic" sz="half" idx="22"/>
          </p:nvPr>
        </p:nvSpPr>
        <p:spPr>
          <a:xfrm>
            <a:off x="6718300" y="749300"/>
            <a:ext cx="5334000" cy="53340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103" name="View of beach and sea from a grassy sand dune"/>
          <p:cNvSpPr/>
          <p:nvPr>
            <p:ph type="pic" idx="23"/>
          </p:nvPr>
        </p:nvSpPr>
        <p:spPr>
          <a:xfrm>
            <a:off x="-2832100" y="889000"/>
            <a:ext cx="11963400" cy="79756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10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–Johnny Appleseed"/>
          <p:cNvSpPr txBox="1"/>
          <p:nvPr>
            <p:ph type="body" sz="quarter" idx="21"/>
          </p:nvPr>
        </p:nvSpPr>
        <p:spPr>
          <a:xfrm>
            <a:off x="1270000" y="6362700"/>
            <a:ext cx="10464800" cy="461366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i="1" sz="2400"/>
            </a:lvl1pPr>
          </a:lstStyle>
          <a:p>
            <a:pPr/>
            <a:r>
              <a:t>–Johnny Appleseed</a:t>
            </a:r>
          </a:p>
        </p:txBody>
      </p:sp>
      <p:sp>
        <p:nvSpPr>
          <p:cNvPr id="112" name="“Type a quote here.”"/>
          <p:cNvSpPr txBox="1"/>
          <p:nvPr>
            <p:ph type="body" sz="quarter" idx="22"/>
          </p:nvPr>
        </p:nvSpPr>
        <p:spPr>
          <a:xfrm>
            <a:off x="1270000" y="4267112"/>
            <a:ext cx="10464800" cy="609776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3400"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pPr/>
            <a:r>
              <a:t>“Type a quote here.” </a:t>
            </a:r>
          </a:p>
        </p:txBody>
      </p:sp>
      <p:sp>
        <p:nvSpPr>
          <p:cNvPr id="1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View of beach and sea from a grassy sand dune"/>
          <p:cNvSpPr/>
          <p:nvPr>
            <p:ph type="pic" idx="21"/>
          </p:nvPr>
        </p:nvSpPr>
        <p:spPr>
          <a:xfrm>
            <a:off x="-1308100" y="-50800"/>
            <a:ext cx="14782800" cy="98552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12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952500" y="254000"/>
            <a:ext cx="11099800" cy="2159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952500" y="2590800"/>
            <a:ext cx="1109980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6328884" y="9296400"/>
            <a:ext cx="340259" cy="324306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algn="ctr">
              <a:spcBef>
                <a:spcPts val="0"/>
              </a:spcBef>
              <a:defRPr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transition xmlns:p14="http://schemas.microsoft.com/office/powerpoint/2010/main" spd="med" advClick="1"/>
  <p:txStyles>
    <p:title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9pPr>
    </p:titleStyle>
    <p:bodyStyle>
      <a:lvl1pPr marL="444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1pPr>
      <a:lvl2pPr marL="889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2pPr>
      <a:lvl3pPr marL="1333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3pPr>
      <a:lvl4pPr marL="1778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4pPr>
      <a:lvl5pPr marL="2222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5pPr>
      <a:lvl6pPr marL="2667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3111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3556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4000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search Paper Answer Bot"/>
          <p:cNvSpPr txBox="1"/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Research Paper Answer Bot</a:t>
            </a:r>
          </a:p>
        </p:txBody>
      </p:sp>
      <p:sp>
        <p:nvSpPr>
          <p:cNvPr id="138" name="Evidence-first RAG over five landmark Generative AI papers…"/>
          <p:cNvSpPr txBox="1"/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defTabSz="479044">
              <a:defRPr sz="3034"/>
            </a:pPr>
            <a:r>
              <a:t>Evidence-first RAG over five landmark Generative AI papers</a:t>
            </a:r>
          </a:p>
          <a:p>
            <a:pPr defTabSz="479044">
              <a:defRPr sz="3034"/>
            </a:pPr>
            <a:r>
              <a:t>Analytics Vidhya · GenAI Pinnacle Capstone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roblem and goal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Problem and goal</a:t>
            </a:r>
          </a:p>
        </p:txBody>
      </p:sp>
      <p:sp>
        <p:nvSpPr>
          <p:cNvPr id="141" name="Researchers need trustworthy answers across long AI papers.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Researchers need trustworthy answers across long AI papers.</a:t>
            </a:r>
          </a:p>
          <a:p>
            <a:pPr/>
          </a:p>
          <a:p>
            <a:pPr/>
            <a:r>
              <a:t>Goal: cited answers, not an ungrounded chat experience.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Corpus and requirement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37463">
              <a:defRPr sz="7360"/>
            </a:lvl1pPr>
          </a:lstStyle>
          <a:p>
            <a:pPr/>
            <a:r>
              <a:t>Corpus and requirements</a:t>
            </a:r>
          </a:p>
        </p:txBody>
      </p:sp>
      <p:sp>
        <p:nvSpPr>
          <p:cNvPr id="144" name="Attention Is All You Need · GPT-4 · InstructGPT · Mistral 7B · Gemini 1.0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Attention Is All You Need · GPT-4 · InstructGPT · Mistral 7B · Gemini 1.0</a:t>
            </a:r>
          </a:p>
          <a:p>
            <a:pPr/>
          </a:p>
          <a:p>
            <a:pPr/>
            <a:r>
              <a:t>Covers vector indexing, open + commercial embeddings, retrieval bake-off, RAG, testing and sources.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Architectur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Architecture</a:t>
            </a:r>
          </a:p>
        </p:txBody>
      </p:sp>
      <p:sp>
        <p:nvSpPr>
          <p:cNvPr id="147" name="PyMuPDF → embedding provider → Chroma + BM25 → hybrid/RRF/rerank → relevance grader → grounded generator → paper/page citations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PyMuPDF → embedding provider → Chroma + BM25 → hybrid/RRF/rerank → relevance grader → grounded generator → paper/page citations</a:t>
            </a:r>
          </a:p>
          <a:p>
            <a:pPr/>
          </a:p>
          <a:p>
            <a:pPr/>
            <a:r>
              <a:t>Streamlit, FastAPI and CLI share one core.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Citation-safe ingestion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Citation-safe ingestion</a:t>
            </a:r>
          </a:p>
        </p:txBody>
      </p:sp>
      <p:sp>
        <p:nvSpPr>
          <p:cNvPr id="150" name="Page-aware chunks retain paper title, page, section and chunk ID.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Page-aware chunks retain paper title, page, section and chunk ID.</a:t>
            </a:r>
          </a:p>
          <a:p>
            <a:pPr/>
          </a:p>
          <a:p>
            <a:pPr/>
            <a:r>
              <a:t>Reference sections are excluded from answer context, making each source traceable.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Embedding bake-off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Embedding bake-off</a:t>
            </a:r>
          </a:p>
        </p:txBody>
      </p:sp>
      <p:sp>
        <p:nvSpPr>
          <p:cNvPr id="153" name="MiniLM · BGE-base · GTE-large · OpenAI text-embedding-3-small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MiniLM · BGE-base · GTE-large · OpenAI text-embedding-3-small</a:t>
            </a:r>
          </a:p>
          <a:p>
            <a:pPr/>
          </a:p>
          <a:p>
            <a:pPr/>
            <a:r>
              <a:t>Measures Hit@5, MRR, nDCG@5, index time and query latency. Offline fallback is clearly labelled—not presented as neural results.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Retrieval bake-off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Retrieval bake-off</a:t>
            </a:r>
          </a:p>
        </p:txBody>
      </p:sp>
      <p:sp>
        <p:nvSpPr>
          <p:cNvPr id="156" name="Dense cosine baseline · BM25 · Hybrid RRF · Hybrid rerank · MMR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Dense cosine baseline · BM25 · Hybrid RRF · Hybrid rerank · MMR</a:t>
            </a:r>
          </a:p>
          <a:p>
            <a:pPr/>
          </a:p>
          <a:p>
            <a:pPr/>
            <a:r>
              <a:t>Hybrid rerank is the production candidate: semantic recall plus technical-term precision.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Corrective and conversational RAG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84886">
              <a:defRPr sz="6640"/>
            </a:lvl1pPr>
          </a:lstStyle>
          <a:p>
            <a:pPr/>
            <a:r>
              <a:t>Corrective and conversational RAG</a:t>
            </a:r>
          </a:p>
        </p:txBody>
      </p:sp>
      <p:sp>
        <p:nvSpPr>
          <p:cNvPr id="159" name="Thread-isolated history resolves follow-ups.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Thread-isolated history resolves follow-ups.</a:t>
            </a:r>
          </a:p>
          <a:p>
            <a:pPr/>
          </a:p>
          <a:p>
            <a:pPr/>
            <a:r>
              <a:t>The relevance grader uses Tavily when configured or transparently refuses out-of-corpus questions.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roduct demonstration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Product demonstration</a:t>
            </a:r>
          </a:p>
        </p:txBody>
      </p:sp>
      <p:sp>
        <p:nvSpPr>
          <p:cNvPr id="162" name="Streamlit chat: answers, page citations, source excerpts, provenance, scores and latency.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Streamlit chat: answers, page citations, source excerpts, provenance, scores and latency.</a:t>
            </a:r>
          </a:p>
          <a:p>
            <a:pPr/>
          </a:p>
          <a:p>
            <a:pPr/>
            <a:r>
              <a:t>FastAPI: /health, /api/v1/ask, /api/v1/sources. CLI supports terminal demonstrations.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Quality and next step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Quality and next steps</a:t>
            </a:r>
          </a:p>
        </p:txBody>
      </p:sp>
      <p:sp>
        <p:nvSpPr>
          <p:cNvPr id="165" name="30-question golden set; automated coverage for ingestion, retrieval, citations, memory and refusal.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30-question golden set; automated coverage for ingestion, retrieval, citations, memory and refusal.</a:t>
            </a:r>
          </a:p>
          <a:p>
            <a:pPr/>
          </a:p>
          <a:p>
            <a:pPr/>
            <a:r>
              <a:t>Next: warm model cache, run neural/commercial bake-off, lock the winner, add figure/table extraction.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42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42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